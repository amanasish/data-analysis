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68" r:id="rId6"/>
    <p:sldId id="257" r:id="rId7"/>
    <p:sldId id="258" r:id="rId8"/>
    <p:sldId id="274" r:id="rId9"/>
    <p:sldId id="259" r:id="rId10"/>
    <p:sldId id="260" r:id="rId11"/>
    <p:sldId id="261" r:id="rId12"/>
    <p:sldId id="262" r:id="rId13"/>
    <p:sldId id="269" r:id="rId14"/>
    <p:sldId id="270" r:id="rId15"/>
    <p:sldId id="271" r:id="rId16"/>
    <p:sldId id="272" r:id="rId17"/>
    <p:sldId id="275" r:id="rId18"/>
    <p:sldId id="276" r:id="rId19"/>
    <p:sldId id="277" r:id="rId20"/>
    <p:sldId id="278" r:id="rId21"/>
    <p:sldId id="273" r:id="rId22"/>
    <p:sldId id="279" r:id="rId23"/>
    <p:sldId id="280" r:id="rId24"/>
    <p:sldId id="281" r:id="rId25"/>
    <p:sldId id="282" r:id="rId26"/>
    <p:sldId id="2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15C01-988B-3D04-3A4D-33907301E3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550906-E714-F535-6770-56A9619216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87F4DC-11FC-4D23-B756-DA0EB3E83607}"/>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586BD513-58BB-B3E4-92AC-563919BBB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258B50-0CE3-96D0-354D-34B9F1C5B188}"/>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428380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E1AED-DE0A-17D1-3F6A-5A44B3671E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4B80E5-D329-6F02-07BF-A6B0C5DA5A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C3604C-DD87-867A-5159-674BC6F71F73}"/>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EECB4046-A6BD-744E-3C5F-AA461E381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C024C-F235-E400-92EA-436E72C026CE}"/>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157346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D5F4-73E8-3B30-7167-3E43442B56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0A65CC-52F7-D995-53BA-430AD89FF6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8487FF-251F-3528-9E44-0D19B46F3973}"/>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460FBEBD-65E9-435B-4098-E1178CB074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D5D818-8839-2A7C-F5B2-22AB77EAF856}"/>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1076174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909D-674F-22DF-8C0E-D0F3818B01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FA9887-92D4-FCF3-FAEF-884A1BF146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038BCE-FBD3-DC56-3A35-111F684C8C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0442AC-9B86-E436-D564-3F9AD4FAF47C}"/>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6" name="Footer Placeholder 5">
            <a:extLst>
              <a:ext uri="{FF2B5EF4-FFF2-40B4-BE49-F238E27FC236}">
                <a16:creationId xmlns:a16="http://schemas.microsoft.com/office/drawing/2014/main" id="{68999365-DF5B-3013-D409-D166427511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2DE2D9-D163-E533-FD27-3F1B9386D3CF}"/>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3926348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CDA0-8B90-E8A7-5CCD-46D26C1F06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EC0941-2339-DF0B-E9AB-D1423FCB3C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985BA0-D29F-2E9C-D4BD-115F219358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7617CA-EB19-1040-E322-29AE49AB4B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BB02-2B09-6011-BDF3-577C322983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97110A-5219-44B1-974A-0F571A624CBA}"/>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8" name="Footer Placeholder 7">
            <a:extLst>
              <a:ext uri="{FF2B5EF4-FFF2-40B4-BE49-F238E27FC236}">
                <a16:creationId xmlns:a16="http://schemas.microsoft.com/office/drawing/2014/main" id="{4ACAC385-5CFF-CB89-B668-D0DD5AE508C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376BC4-0589-A001-E7B7-CE7E865180F4}"/>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4206055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1B67-1865-8A4A-CA4A-2A7E05E210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780D61-750D-10A9-636C-8D41D935DE5E}"/>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4" name="Footer Placeholder 3">
            <a:extLst>
              <a:ext uri="{FF2B5EF4-FFF2-40B4-BE49-F238E27FC236}">
                <a16:creationId xmlns:a16="http://schemas.microsoft.com/office/drawing/2014/main" id="{9A1F69A9-CFCB-6474-C529-C6BD70B714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17E135-5117-9901-B7C7-3BCD3F013E1D}"/>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1506267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85E39B-5FBE-79D5-FC44-51663ECDE8BD}"/>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3" name="Footer Placeholder 2">
            <a:extLst>
              <a:ext uri="{FF2B5EF4-FFF2-40B4-BE49-F238E27FC236}">
                <a16:creationId xmlns:a16="http://schemas.microsoft.com/office/drawing/2014/main" id="{43F87599-B051-70E8-4378-757EEF346A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828B69-C414-0113-C5D7-F5CBDC536565}"/>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138903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48972-CBC4-088E-3E67-917428079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8D08D1-9253-8669-C21A-2ED69F7E0B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764E92-12C8-BE56-AAB5-90601B446F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E764A0-76BA-961E-D3A4-EA9D758D619C}"/>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6" name="Footer Placeholder 5">
            <a:extLst>
              <a:ext uri="{FF2B5EF4-FFF2-40B4-BE49-F238E27FC236}">
                <a16:creationId xmlns:a16="http://schemas.microsoft.com/office/drawing/2014/main" id="{AA9A595C-5877-8A98-B0D1-5E06AFB3FB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15B5C8-7568-8012-5C4A-915AED3EE769}"/>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1418087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09FD-082C-81C4-7900-F2129DE9FE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6E0749-D2BF-7B5D-2547-037C64547D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07EDF1-2D7E-2EEB-3B02-5299B5EEB2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0C6D5C-92A4-2A2F-DFF1-F0160276EFD7}"/>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6" name="Footer Placeholder 5">
            <a:extLst>
              <a:ext uri="{FF2B5EF4-FFF2-40B4-BE49-F238E27FC236}">
                <a16:creationId xmlns:a16="http://schemas.microsoft.com/office/drawing/2014/main" id="{8AF6BAA0-6FAB-B120-6C51-272674997A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462B03-5E6D-2CC2-2F59-B211B52B5336}"/>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513138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9031D-3BB2-EB20-3C33-AD27A374CF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183620-377F-2AE1-1BED-F41EB692B6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7782E1-7749-3E93-6CCE-F6623E10E302}"/>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6226DBD6-D30C-BC76-DAAC-5BC656E7DF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A6C96A-08A1-0A93-8902-18CB92651066}"/>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380800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BAF41-F20A-9CD3-E01C-052E240E95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C6AAA7-0079-E470-B1FE-2283691698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C18853-A4F2-A085-D53A-88724DA6EF10}"/>
              </a:ext>
            </a:extLst>
          </p:cNvPr>
          <p:cNvSpPr>
            <a:spLocks noGrp="1"/>
          </p:cNvSpPr>
          <p:nvPr>
            <p:ph type="dt" sz="half" idx="10"/>
          </p:nvPr>
        </p:nvSpPr>
        <p:spPr/>
        <p:txBody>
          <a:body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9C92BFC8-F53C-184C-9D70-68B3ADF1C8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A6B2B9-4E8E-CFC8-7A70-0B420275C897}"/>
              </a:ext>
            </a:extLst>
          </p:cNvPr>
          <p:cNvSpPr>
            <a:spLocks noGrp="1"/>
          </p:cNvSpPr>
          <p:nvPr>
            <p:ph type="sldNum" sz="quarter" idx="12"/>
          </p:nvPr>
        </p:nvSpPr>
        <p:spPr/>
        <p:txBody>
          <a:bodyPr/>
          <a:lstStyle/>
          <a:p>
            <a:fld id="{E930A951-81C7-4355-9243-76A26648E428}" type="slidenum">
              <a:rPr lang="en-IN" smtClean="0"/>
              <a:t>‹#›</a:t>
            </a:fld>
            <a:endParaRPr lang="en-IN"/>
          </a:p>
        </p:txBody>
      </p:sp>
    </p:spTree>
    <p:extLst>
      <p:ext uri="{BB962C8B-B14F-4D97-AF65-F5344CB8AC3E}">
        <p14:creationId xmlns:p14="http://schemas.microsoft.com/office/powerpoint/2010/main" val="3015004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45D5A-492F-48A5-15E4-176261D63A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71735F-1786-9CC7-D433-1B63DDB272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FBB402-5888-AA61-6902-FA5F9E0B598A}"/>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8D33F789-7B37-D27F-AC3C-8DD593127D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4A9201-F3D7-EC05-E346-6D36D6441D3A}"/>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730738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1BD6-6968-A168-FD03-81D606F330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852E3F-E2B3-2085-DE90-E411DE3162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6BDC21-02C6-D524-7B00-E35D9EE95F13}"/>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AF4EC9FB-F83A-899F-1A2E-28EB23EAD5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EAFFD6-5B61-8CB8-83E6-8652D09ACD28}"/>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410267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E09F1-D311-96AA-B62E-130C0C49D2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B5CE6A-EF04-716B-8F83-83BB42A47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EAAF63-FF59-F06F-70DA-4620C062AC2C}"/>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6096AE0E-6273-A334-3649-2CC99AA99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962BFB-2B1D-8329-8AB6-70B4557BDD5F}"/>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1033867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EAF7-E757-70BB-FB04-1083F34728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4218E2-D10E-EB3C-D2F4-7A5572F28A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A0009E-81A3-382B-E7A4-88D88C956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D1BA82-CF85-BE8A-7760-479AF3509306}"/>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6" name="Footer Placeholder 5">
            <a:extLst>
              <a:ext uri="{FF2B5EF4-FFF2-40B4-BE49-F238E27FC236}">
                <a16:creationId xmlns:a16="http://schemas.microsoft.com/office/drawing/2014/main" id="{F406C03E-B7E1-613C-2223-D930F618A5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CB9DE1-4628-ACD6-2714-6B207BEC1C3E}"/>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2620101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D351-0027-B9B5-EFA3-5FB7F709D0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6AA110-C62B-5036-7CD4-09166EE68C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0A792E-C989-2FC1-B426-5328417852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D97113-785E-C868-2F29-DC46F03AE2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102D8A-4AEF-0DC1-7F05-70E4517D6E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AA5378-0FFA-2C9B-338F-6E452DB8BE8F}"/>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8" name="Footer Placeholder 7">
            <a:extLst>
              <a:ext uri="{FF2B5EF4-FFF2-40B4-BE49-F238E27FC236}">
                <a16:creationId xmlns:a16="http://schemas.microsoft.com/office/drawing/2014/main" id="{07D0482D-74B9-6ACC-F94B-0BBE12D3CB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FF6564A-DA2B-890B-492E-156BB40516A1}"/>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2912194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4C6D-599B-B1E7-F6B1-D4DDF46686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4B9887-AB8D-43DB-ED27-D7503CE2F7E3}"/>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4" name="Footer Placeholder 3">
            <a:extLst>
              <a:ext uri="{FF2B5EF4-FFF2-40B4-BE49-F238E27FC236}">
                <a16:creationId xmlns:a16="http://schemas.microsoft.com/office/drawing/2014/main" id="{B1C478F6-331C-664C-2E48-567BE32A93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34B3B5-43F2-C9F4-05AB-6AE2B9D8536D}"/>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2718389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92A5D-6071-9526-7209-7093BAACE302}"/>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3" name="Footer Placeholder 2">
            <a:extLst>
              <a:ext uri="{FF2B5EF4-FFF2-40B4-BE49-F238E27FC236}">
                <a16:creationId xmlns:a16="http://schemas.microsoft.com/office/drawing/2014/main" id="{12A30A5B-93A4-2026-3C11-4322822E7E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F6AAB9-7608-9159-58AB-B71C62DE7558}"/>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1796302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8FF7-9BFA-3ED1-E9C1-ABA4DDB85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05447D-255A-B9C6-FC94-9C43A243DF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55500D-E2DD-19F8-D069-04682F98D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A403D-D11C-1512-F1A6-7CD211446D16}"/>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6" name="Footer Placeholder 5">
            <a:extLst>
              <a:ext uri="{FF2B5EF4-FFF2-40B4-BE49-F238E27FC236}">
                <a16:creationId xmlns:a16="http://schemas.microsoft.com/office/drawing/2014/main" id="{9C630431-CD28-130E-1973-3FC45767E4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D1613-40AF-8CE8-46F7-D254AEAFDB3C}"/>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101463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C1F33-AE98-A9B7-E8E5-3EC4355757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F61197-F5DA-C50B-6879-939C3E6E06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34F9A4-8774-6E6E-AFA4-D4AEA3D46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0A88CB-EACC-F306-439C-D941E28A4230}"/>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6" name="Footer Placeholder 5">
            <a:extLst>
              <a:ext uri="{FF2B5EF4-FFF2-40B4-BE49-F238E27FC236}">
                <a16:creationId xmlns:a16="http://schemas.microsoft.com/office/drawing/2014/main" id="{ADC75059-1B7B-D86E-8E9E-44A88B9635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CCCE42-3245-B416-3A90-99E6E3968E83}"/>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39512069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6917-8467-3A4C-1E57-6AB96ABDC5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3FB0E0-AE7A-7783-555F-FFABB7CD25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C039FC-622B-FFD9-B0B2-FA556C3F4AF2}"/>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4506249D-8896-4DEF-0054-2D3EDA41E0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3DEB1-9DA3-212E-55DD-691AA4B6D83B}"/>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247761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A60BF4-CC51-BC3D-8BB6-9CB4E99230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73DB04-D075-496C-72CA-2CF8EAAB40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698DFA-A7C7-BB0B-D4A8-5F6739D46E38}"/>
              </a:ext>
            </a:extLst>
          </p:cNvPr>
          <p:cNvSpPr>
            <a:spLocks noGrp="1"/>
          </p:cNvSpPr>
          <p:nvPr>
            <p:ph type="dt" sz="half" idx="10"/>
          </p:nvPr>
        </p:nvSpPr>
        <p:spPr/>
        <p:txBody>
          <a:body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B93B2E23-CA5A-B0BD-06B0-0F95E3297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A064F9-1A73-6AFB-F995-A0A2E6962BC3}"/>
              </a:ext>
            </a:extLst>
          </p:cNvPr>
          <p:cNvSpPr>
            <a:spLocks noGrp="1"/>
          </p:cNvSpPr>
          <p:nvPr>
            <p:ph type="sldNum" sz="quarter" idx="12"/>
          </p:nvPr>
        </p:nvSpPr>
        <p:spPr/>
        <p:txBody>
          <a:bodyPr/>
          <a:lstStyle/>
          <a:p>
            <a:fld id="{E6929640-7C9E-481B-931F-D366BBEB3BEA}" type="slidenum">
              <a:rPr lang="en-IN" smtClean="0"/>
              <a:t>‹#›</a:t>
            </a:fld>
            <a:endParaRPr lang="en-IN"/>
          </a:p>
        </p:txBody>
      </p:sp>
    </p:spTree>
    <p:extLst>
      <p:ext uri="{BB962C8B-B14F-4D97-AF65-F5344CB8AC3E}">
        <p14:creationId xmlns:p14="http://schemas.microsoft.com/office/powerpoint/2010/main" val="166858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37EF5A-19E0-D70F-3644-A17AEBF1C4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7A1C29-5830-267B-B7B6-9E120899B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7C9AE-B2AD-5025-3732-28847F6D1C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D0A009-9F7F-487F-AFF2-FB6E683CFD54}" type="datetimeFigureOut">
              <a:rPr lang="en-IN" smtClean="0"/>
              <a:t>27-02-2026</a:t>
            </a:fld>
            <a:endParaRPr lang="en-IN"/>
          </a:p>
        </p:txBody>
      </p:sp>
      <p:sp>
        <p:nvSpPr>
          <p:cNvPr id="5" name="Footer Placeholder 4">
            <a:extLst>
              <a:ext uri="{FF2B5EF4-FFF2-40B4-BE49-F238E27FC236}">
                <a16:creationId xmlns:a16="http://schemas.microsoft.com/office/drawing/2014/main" id="{9D7AF466-18C7-688D-8BFE-29C38D533F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ADA3FE-E741-2718-35CA-13B324388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0A951-81C7-4355-9243-76A26648E428}" type="slidenum">
              <a:rPr lang="en-IN" smtClean="0"/>
              <a:t>‹#›</a:t>
            </a:fld>
            <a:endParaRPr lang="en-IN"/>
          </a:p>
        </p:txBody>
      </p:sp>
    </p:spTree>
    <p:extLst>
      <p:ext uri="{BB962C8B-B14F-4D97-AF65-F5344CB8AC3E}">
        <p14:creationId xmlns:p14="http://schemas.microsoft.com/office/powerpoint/2010/main" val="1017414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E30E47-0F3C-21EB-73CE-31FB3342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07FB8E-86BA-7BB5-839F-823AFABBA1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33CD6D-07A4-6575-EF43-131D0ECE8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EAC80E-EB2A-40B1-BC92-BC66732087FA}" type="datetimeFigureOut">
              <a:rPr lang="en-IN" smtClean="0"/>
              <a:t>27-02-2026</a:t>
            </a:fld>
            <a:endParaRPr lang="en-IN"/>
          </a:p>
        </p:txBody>
      </p:sp>
      <p:sp>
        <p:nvSpPr>
          <p:cNvPr id="5" name="Footer Placeholder 4">
            <a:extLst>
              <a:ext uri="{FF2B5EF4-FFF2-40B4-BE49-F238E27FC236}">
                <a16:creationId xmlns:a16="http://schemas.microsoft.com/office/drawing/2014/main" id="{C4532877-95C1-9528-9699-B0FFE0B2CC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E3B13C-108E-A4C0-917D-4F92FA9FF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929640-7C9E-481B-931F-D366BBEB3BEA}" type="slidenum">
              <a:rPr lang="en-IN" smtClean="0"/>
              <a:t>‹#›</a:t>
            </a:fld>
            <a:endParaRPr lang="en-IN"/>
          </a:p>
        </p:txBody>
      </p:sp>
    </p:spTree>
    <p:extLst>
      <p:ext uri="{BB962C8B-B14F-4D97-AF65-F5344CB8AC3E}">
        <p14:creationId xmlns:p14="http://schemas.microsoft.com/office/powerpoint/2010/main" val="13659798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Sample being pipetted into a petri dish">
            <a:extLst>
              <a:ext uri="{FF2B5EF4-FFF2-40B4-BE49-F238E27FC236}">
                <a16:creationId xmlns:a16="http://schemas.microsoft.com/office/drawing/2014/main" id="{F8F46F20-DC06-0542-0CEA-3C81F5749B68}"/>
              </a:ext>
            </a:extLst>
          </p:cNvPr>
          <p:cNvPicPr>
            <a:picLocks noChangeAspect="1"/>
          </p:cNvPicPr>
          <p:nvPr/>
        </p:nvPicPr>
        <p:blipFill rotWithShape="1">
          <a:blip r:embed="rId2"/>
          <a:srcRect l="5516" r="-2" b="-2"/>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D6DA7D5-5097-60AA-423A-56DD9B2A3A41}"/>
              </a:ext>
            </a:extLst>
          </p:cNvPr>
          <p:cNvSpPr>
            <a:spLocks noGrp="1"/>
          </p:cNvSpPr>
          <p:nvPr>
            <p:ph type="ctrTitle"/>
          </p:nvPr>
        </p:nvSpPr>
        <p:spPr>
          <a:xfrm>
            <a:off x="477981" y="1122363"/>
            <a:ext cx="4023360" cy="1373946"/>
          </a:xfrm>
        </p:spPr>
        <p:txBody>
          <a:bodyPr anchor="b">
            <a:normAutofit fontScale="90000"/>
          </a:bodyPr>
          <a:lstStyle/>
          <a:p>
            <a:pPr algn="l"/>
            <a:r>
              <a:rPr lang="en-IN" sz="4800" dirty="0"/>
              <a:t>Data Analytics Lab</a:t>
            </a:r>
          </a:p>
        </p:txBody>
      </p:sp>
      <p:sp>
        <p:nvSpPr>
          <p:cNvPr id="3" name="Subtitle 2">
            <a:extLst>
              <a:ext uri="{FF2B5EF4-FFF2-40B4-BE49-F238E27FC236}">
                <a16:creationId xmlns:a16="http://schemas.microsoft.com/office/drawing/2014/main" id="{BF63DE24-C81D-4EBE-DDE3-6363BB620545}"/>
              </a:ext>
            </a:extLst>
          </p:cNvPr>
          <p:cNvSpPr>
            <a:spLocks noGrp="1"/>
          </p:cNvSpPr>
          <p:nvPr>
            <p:ph type="subTitle" idx="1"/>
          </p:nvPr>
        </p:nvSpPr>
        <p:spPr>
          <a:xfrm>
            <a:off x="477982" y="3014591"/>
            <a:ext cx="5509161" cy="1971066"/>
          </a:xfrm>
        </p:spPr>
        <p:txBody>
          <a:bodyPr>
            <a:normAutofit/>
          </a:bodyPr>
          <a:lstStyle/>
          <a:p>
            <a:pPr algn="l"/>
            <a:r>
              <a:rPr lang="en-IN" dirty="0"/>
              <a:t>By</a:t>
            </a:r>
          </a:p>
          <a:p>
            <a:pPr algn="l"/>
            <a:r>
              <a:rPr lang="en-IN" dirty="0" err="1"/>
              <a:t>Dr.</a:t>
            </a:r>
            <a:r>
              <a:rPr lang="en-IN" dirty="0"/>
              <a:t> Akriti Nigam</a:t>
            </a:r>
          </a:p>
          <a:p>
            <a:pPr algn="l"/>
            <a:r>
              <a:rPr lang="en-IN" dirty="0"/>
              <a:t>Assistant Professor</a:t>
            </a:r>
          </a:p>
          <a:p>
            <a:pPr algn="l"/>
            <a:r>
              <a:rPr lang="en-IN" dirty="0"/>
              <a:t>Birla Institute of Technology, </a:t>
            </a:r>
            <a:r>
              <a:rPr lang="en-IN" dirty="0" err="1"/>
              <a:t>Mesra</a:t>
            </a:r>
            <a:r>
              <a:rPr lang="en-IN" dirty="0"/>
              <a:t>, Ranchi</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076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B2D1-5D6F-E555-9F49-DA7EF729C436}"/>
              </a:ext>
            </a:extLst>
          </p:cNvPr>
          <p:cNvSpPr>
            <a:spLocks noGrp="1"/>
          </p:cNvSpPr>
          <p:nvPr>
            <p:ph type="title"/>
          </p:nvPr>
        </p:nvSpPr>
        <p:spPr/>
        <p:txBody>
          <a:bodyPr/>
          <a:lstStyle/>
          <a:p>
            <a:r>
              <a:rPr lang="en-US" dirty="0"/>
              <a:t>Linear Discriminant Analysis</a:t>
            </a:r>
            <a:endParaRPr lang="en-IN" dirty="0"/>
          </a:p>
        </p:txBody>
      </p:sp>
      <p:sp>
        <p:nvSpPr>
          <p:cNvPr id="3" name="Content Placeholder 2">
            <a:extLst>
              <a:ext uri="{FF2B5EF4-FFF2-40B4-BE49-F238E27FC236}">
                <a16:creationId xmlns:a16="http://schemas.microsoft.com/office/drawing/2014/main" id="{42567B1A-2830-B196-11D7-32F709DAB41A}"/>
              </a:ext>
            </a:extLst>
          </p:cNvPr>
          <p:cNvSpPr>
            <a:spLocks noGrp="1"/>
          </p:cNvSpPr>
          <p:nvPr>
            <p:ph idx="1"/>
          </p:nvPr>
        </p:nvSpPr>
        <p:spPr/>
        <p:txBody>
          <a:bodyPr>
            <a:normAutofit/>
          </a:bodyPr>
          <a:lstStyle/>
          <a:p>
            <a:pPr algn="just"/>
            <a:r>
              <a:rPr lang="en-US" dirty="0"/>
              <a:t>LDA is most commonly used as dimensionality reduction technique in the pre-processing step for pattern-classification and machine learning applications. </a:t>
            </a:r>
          </a:p>
          <a:p>
            <a:pPr algn="just"/>
            <a:r>
              <a:rPr lang="en-US" dirty="0"/>
              <a:t>The goal is to project a dataset onto a lower-dimensional space with good class-separability in order avoid overfitting.</a:t>
            </a:r>
          </a:p>
          <a:p>
            <a:pPr algn="just"/>
            <a:r>
              <a:rPr lang="en-US" dirty="0"/>
              <a:t>The general LDA approach is very similar to a PCA but in addition to finding the component axes that maximize the variance of data (PCA), we are additionally interested in the axes that maximize the separation between multiple classes (LDA).</a:t>
            </a:r>
            <a:endParaRPr lang="en-IN" dirty="0"/>
          </a:p>
        </p:txBody>
      </p:sp>
    </p:spTree>
    <p:extLst>
      <p:ext uri="{BB962C8B-B14F-4D97-AF65-F5344CB8AC3E}">
        <p14:creationId xmlns:p14="http://schemas.microsoft.com/office/powerpoint/2010/main" val="212858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792DDB99-A4E2-DD13-8B52-99BC0179CD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648208"/>
            <a:ext cx="10905066" cy="5561582"/>
          </a:xfrm>
          <a:prstGeom prst="rect">
            <a:avLst/>
          </a:prstGeom>
        </p:spPr>
      </p:pic>
    </p:spTree>
    <p:extLst>
      <p:ext uri="{BB962C8B-B14F-4D97-AF65-F5344CB8AC3E}">
        <p14:creationId xmlns:p14="http://schemas.microsoft.com/office/powerpoint/2010/main" val="2839828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585C-29F3-BC4A-10D2-9EF1D31440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17FE83-E22E-6A20-577C-49F4205AD03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165B05A-7313-B9FA-7C65-BD31F9BBA963}"/>
              </a:ext>
            </a:extLst>
          </p:cNvPr>
          <p:cNvPicPr>
            <a:picLocks noChangeAspect="1"/>
          </p:cNvPicPr>
          <p:nvPr/>
        </p:nvPicPr>
        <p:blipFill>
          <a:blip r:embed="rId2"/>
          <a:stretch>
            <a:fillRect/>
          </a:stretch>
        </p:blipFill>
        <p:spPr>
          <a:xfrm>
            <a:off x="553850" y="1690688"/>
            <a:ext cx="4020111" cy="3667637"/>
          </a:xfrm>
          <a:prstGeom prst="rect">
            <a:avLst/>
          </a:prstGeom>
        </p:spPr>
      </p:pic>
      <p:pic>
        <p:nvPicPr>
          <p:cNvPr id="7" name="Picture 6">
            <a:extLst>
              <a:ext uri="{FF2B5EF4-FFF2-40B4-BE49-F238E27FC236}">
                <a16:creationId xmlns:a16="http://schemas.microsoft.com/office/drawing/2014/main" id="{AD43EF5B-64F8-B145-81FC-2FE74C8B1FEB}"/>
              </a:ext>
            </a:extLst>
          </p:cNvPr>
          <p:cNvPicPr>
            <a:picLocks noChangeAspect="1"/>
          </p:cNvPicPr>
          <p:nvPr/>
        </p:nvPicPr>
        <p:blipFill>
          <a:blip r:embed="rId3"/>
          <a:stretch>
            <a:fillRect/>
          </a:stretch>
        </p:blipFill>
        <p:spPr>
          <a:xfrm>
            <a:off x="5460299" y="1690688"/>
            <a:ext cx="5201376" cy="3629532"/>
          </a:xfrm>
          <a:prstGeom prst="rect">
            <a:avLst/>
          </a:prstGeom>
        </p:spPr>
      </p:pic>
    </p:spTree>
    <p:extLst>
      <p:ext uri="{BB962C8B-B14F-4D97-AF65-F5344CB8AC3E}">
        <p14:creationId xmlns:p14="http://schemas.microsoft.com/office/powerpoint/2010/main" val="299250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375E-5D3A-B33C-E76E-CA79C6161C68}"/>
              </a:ext>
            </a:extLst>
          </p:cNvPr>
          <p:cNvSpPr>
            <a:spLocks noGrp="1"/>
          </p:cNvSpPr>
          <p:nvPr>
            <p:ph type="title"/>
          </p:nvPr>
        </p:nvSpPr>
        <p:spPr/>
        <p:txBody>
          <a:bodyPr>
            <a:normAutofit/>
          </a:bodyPr>
          <a:lstStyle/>
          <a:p>
            <a:pPr algn="just"/>
            <a:r>
              <a:rPr lang="en-US" b="1" dirty="0"/>
              <a:t>Step 1: Computing the d-dimensional mean vector</a:t>
            </a:r>
            <a:endParaRPr lang="en-IN" dirty="0"/>
          </a:p>
        </p:txBody>
      </p:sp>
      <p:sp>
        <p:nvSpPr>
          <p:cNvPr id="3" name="Content Placeholder 2">
            <a:extLst>
              <a:ext uri="{FF2B5EF4-FFF2-40B4-BE49-F238E27FC236}">
                <a16:creationId xmlns:a16="http://schemas.microsoft.com/office/drawing/2014/main" id="{6C227B16-A212-9B0F-F016-645BC862385F}"/>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632335C7-4F04-8314-5EE6-6E946AE8B019}"/>
              </a:ext>
            </a:extLst>
          </p:cNvPr>
          <p:cNvPicPr>
            <a:picLocks noChangeAspect="1"/>
          </p:cNvPicPr>
          <p:nvPr/>
        </p:nvPicPr>
        <p:blipFill rotWithShape="1">
          <a:blip r:embed="rId2"/>
          <a:srcRect l="35714" t="59687" r="36191" b="21891"/>
          <a:stretch/>
        </p:blipFill>
        <p:spPr>
          <a:xfrm>
            <a:off x="3526972" y="2090058"/>
            <a:ext cx="6535766" cy="2409370"/>
          </a:xfrm>
          <a:prstGeom prst="rect">
            <a:avLst/>
          </a:prstGeom>
        </p:spPr>
      </p:pic>
    </p:spTree>
    <p:extLst>
      <p:ext uri="{BB962C8B-B14F-4D97-AF65-F5344CB8AC3E}">
        <p14:creationId xmlns:p14="http://schemas.microsoft.com/office/powerpoint/2010/main" val="4193202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0CCCD-A72E-5241-99F9-30FFE06140A5}"/>
              </a:ext>
            </a:extLst>
          </p:cNvPr>
          <p:cNvSpPr>
            <a:spLocks noGrp="1"/>
          </p:cNvSpPr>
          <p:nvPr>
            <p:ph type="title"/>
          </p:nvPr>
        </p:nvSpPr>
        <p:spPr/>
        <p:txBody>
          <a:bodyPr/>
          <a:lstStyle/>
          <a:p>
            <a:r>
              <a:rPr lang="en-US" b="1" dirty="0"/>
              <a:t>Step 2: Computing the Scatter Matrices</a:t>
            </a:r>
            <a:br>
              <a:rPr lang="en-US" b="1" dirty="0"/>
            </a:br>
            <a:endParaRPr lang="en-IN" dirty="0"/>
          </a:p>
        </p:txBody>
      </p:sp>
      <p:sp>
        <p:nvSpPr>
          <p:cNvPr id="3" name="Content Placeholder 2">
            <a:extLst>
              <a:ext uri="{FF2B5EF4-FFF2-40B4-BE49-F238E27FC236}">
                <a16:creationId xmlns:a16="http://schemas.microsoft.com/office/drawing/2014/main" id="{5DAA8B96-1B2D-DADB-1247-7CF91CB82DC2}"/>
              </a:ext>
            </a:extLst>
          </p:cNvPr>
          <p:cNvSpPr>
            <a:spLocks noGrp="1"/>
          </p:cNvSpPr>
          <p:nvPr>
            <p:ph idx="1"/>
          </p:nvPr>
        </p:nvSpPr>
        <p:spPr/>
        <p:txBody>
          <a:bodyPr/>
          <a:lstStyle/>
          <a:p>
            <a:r>
              <a:rPr lang="en-IN" dirty="0"/>
              <a:t>Within-class scatter matrix SW, between-class scatter matrix SB</a:t>
            </a:r>
          </a:p>
        </p:txBody>
      </p:sp>
      <p:pic>
        <p:nvPicPr>
          <p:cNvPr id="8" name="Picture 7">
            <a:extLst>
              <a:ext uri="{FF2B5EF4-FFF2-40B4-BE49-F238E27FC236}">
                <a16:creationId xmlns:a16="http://schemas.microsoft.com/office/drawing/2014/main" id="{09ABCD2B-501C-3BD9-F379-6381C874C3CC}"/>
              </a:ext>
            </a:extLst>
          </p:cNvPr>
          <p:cNvPicPr>
            <a:picLocks noChangeAspect="1"/>
          </p:cNvPicPr>
          <p:nvPr/>
        </p:nvPicPr>
        <p:blipFill rotWithShape="1">
          <a:blip r:embed="rId2"/>
          <a:srcRect l="22023" t="30467" r="45476" b="35443"/>
          <a:stretch/>
        </p:blipFill>
        <p:spPr>
          <a:xfrm>
            <a:off x="804732" y="2206110"/>
            <a:ext cx="5717177" cy="3371668"/>
          </a:xfrm>
          <a:prstGeom prst="rect">
            <a:avLst/>
          </a:prstGeom>
        </p:spPr>
      </p:pic>
      <p:pic>
        <p:nvPicPr>
          <p:cNvPr id="10" name="Picture 9">
            <a:extLst>
              <a:ext uri="{FF2B5EF4-FFF2-40B4-BE49-F238E27FC236}">
                <a16:creationId xmlns:a16="http://schemas.microsoft.com/office/drawing/2014/main" id="{58ED10E8-AADA-FB51-0224-6C2DC8094C50}"/>
              </a:ext>
            </a:extLst>
          </p:cNvPr>
          <p:cNvPicPr>
            <a:picLocks noChangeAspect="1"/>
          </p:cNvPicPr>
          <p:nvPr/>
        </p:nvPicPr>
        <p:blipFill rotWithShape="1">
          <a:blip r:embed="rId3"/>
          <a:srcRect l="21667" t="44230" r="25833" b="37772"/>
          <a:stretch/>
        </p:blipFill>
        <p:spPr>
          <a:xfrm>
            <a:off x="3373120" y="4876178"/>
            <a:ext cx="8387806" cy="1616697"/>
          </a:xfrm>
          <a:prstGeom prst="rect">
            <a:avLst/>
          </a:prstGeom>
        </p:spPr>
      </p:pic>
    </p:spTree>
    <p:extLst>
      <p:ext uri="{BB962C8B-B14F-4D97-AF65-F5344CB8AC3E}">
        <p14:creationId xmlns:p14="http://schemas.microsoft.com/office/powerpoint/2010/main" val="88507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72C6-FE80-1F47-59E6-BB9502AA441C}"/>
              </a:ext>
            </a:extLst>
          </p:cNvPr>
          <p:cNvSpPr>
            <a:spLocks noGrp="1"/>
          </p:cNvSpPr>
          <p:nvPr>
            <p:ph type="title"/>
          </p:nvPr>
        </p:nvSpPr>
        <p:spPr/>
        <p:txBody>
          <a:bodyPr/>
          <a:lstStyle/>
          <a:p>
            <a:r>
              <a:rPr lang="en-US" b="1" dirty="0"/>
              <a:t>Step 3: Solving the generalized eigenvalue problem for the matrix </a:t>
            </a:r>
            <a:endParaRPr lang="en-IN" b="1" dirty="0"/>
          </a:p>
        </p:txBody>
      </p:sp>
      <p:sp>
        <p:nvSpPr>
          <p:cNvPr id="3" name="Content Placeholder 2">
            <a:extLst>
              <a:ext uri="{FF2B5EF4-FFF2-40B4-BE49-F238E27FC236}">
                <a16:creationId xmlns:a16="http://schemas.microsoft.com/office/drawing/2014/main" id="{7F2BD26E-40B8-683D-EE81-3766423CE9B9}"/>
              </a:ext>
            </a:extLst>
          </p:cNvPr>
          <p:cNvSpPr>
            <a:spLocks noGrp="1"/>
          </p:cNvSpPr>
          <p:nvPr>
            <p:ph idx="1"/>
          </p:nvPr>
        </p:nvSpPr>
        <p:spPr/>
        <p:txBody>
          <a:bodyPr/>
          <a:lstStyle/>
          <a:p>
            <a:r>
              <a:rPr lang="en-IN" dirty="0"/>
              <a:t>This step generates the linear discriminants.</a:t>
            </a:r>
          </a:p>
        </p:txBody>
      </p:sp>
      <p:pic>
        <p:nvPicPr>
          <p:cNvPr id="6" name="Picture 5">
            <a:extLst>
              <a:ext uri="{FF2B5EF4-FFF2-40B4-BE49-F238E27FC236}">
                <a16:creationId xmlns:a16="http://schemas.microsoft.com/office/drawing/2014/main" id="{5B089BD7-DE3E-90E8-36B4-44B071F0B11D}"/>
              </a:ext>
            </a:extLst>
          </p:cNvPr>
          <p:cNvPicPr>
            <a:picLocks noChangeAspect="1"/>
          </p:cNvPicPr>
          <p:nvPr/>
        </p:nvPicPr>
        <p:blipFill rotWithShape="1">
          <a:blip r:embed="rId2"/>
          <a:srcRect l="27500" t="44018" r="64285" b="48148"/>
          <a:stretch/>
        </p:blipFill>
        <p:spPr>
          <a:xfrm>
            <a:off x="6096000" y="1091395"/>
            <a:ext cx="1117600" cy="599293"/>
          </a:xfrm>
          <a:prstGeom prst="rect">
            <a:avLst/>
          </a:prstGeom>
        </p:spPr>
      </p:pic>
      <p:sp>
        <p:nvSpPr>
          <p:cNvPr id="8" name="TextBox 7">
            <a:extLst>
              <a:ext uri="{FF2B5EF4-FFF2-40B4-BE49-F238E27FC236}">
                <a16:creationId xmlns:a16="http://schemas.microsoft.com/office/drawing/2014/main" id="{913BB0AF-C780-D734-A922-4FC36B347ABA}"/>
              </a:ext>
            </a:extLst>
          </p:cNvPr>
          <p:cNvSpPr txBox="1"/>
          <p:nvPr/>
        </p:nvSpPr>
        <p:spPr>
          <a:xfrm>
            <a:off x="795997" y="3136765"/>
            <a:ext cx="10030265" cy="1311128"/>
          </a:xfrm>
          <a:prstGeom prst="rect">
            <a:avLst/>
          </a:prstGeom>
          <a:noFill/>
        </p:spPr>
        <p:txBody>
          <a:bodyPr wrap="square">
            <a:spAutoFit/>
          </a:bodyPr>
          <a:lstStyle/>
          <a:p>
            <a:pPr>
              <a:lnSpc>
                <a:spcPct val="90000"/>
              </a:lnSpc>
              <a:spcBef>
                <a:spcPct val="0"/>
              </a:spcBef>
            </a:pPr>
            <a:r>
              <a:rPr lang="en-US" sz="4400" b="1" dirty="0">
                <a:latin typeface="+mj-lt"/>
                <a:ea typeface="+mj-ea"/>
                <a:cs typeface="+mj-cs"/>
              </a:rPr>
              <a:t>Step 4: Selecting linear discriminants for the new feature subspace </a:t>
            </a:r>
            <a:endParaRPr lang="en-IN" sz="4400" b="1" dirty="0">
              <a:latin typeface="+mj-lt"/>
              <a:ea typeface="+mj-ea"/>
              <a:cs typeface="+mj-cs"/>
            </a:endParaRPr>
          </a:p>
        </p:txBody>
      </p:sp>
      <p:sp>
        <p:nvSpPr>
          <p:cNvPr id="10" name="TextBox 9">
            <a:extLst>
              <a:ext uri="{FF2B5EF4-FFF2-40B4-BE49-F238E27FC236}">
                <a16:creationId xmlns:a16="http://schemas.microsoft.com/office/drawing/2014/main" id="{60F579C0-31B4-5702-531E-4715A4240AA1}"/>
              </a:ext>
            </a:extLst>
          </p:cNvPr>
          <p:cNvSpPr txBox="1"/>
          <p:nvPr/>
        </p:nvSpPr>
        <p:spPr>
          <a:xfrm>
            <a:off x="1220372" y="4548383"/>
            <a:ext cx="8092440" cy="461665"/>
          </a:xfrm>
          <a:prstGeom prst="rect">
            <a:avLst/>
          </a:prstGeom>
          <a:noFill/>
        </p:spPr>
        <p:txBody>
          <a:bodyPr wrap="square">
            <a:spAutoFit/>
          </a:bodyPr>
          <a:lstStyle/>
          <a:p>
            <a:r>
              <a:rPr lang="en-US" sz="2400" dirty="0"/>
              <a:t>Sorting the eigenvectors by decreasing eigenvalues</a:t>
            </a:r>
            <a:endParaRPr lang="en-IN" sz="2400" dirty="0"/>
          </a:p>
        </p:txBody>
      </p:sp>
      <p:sp>
        <p:nvSpPr>
          <p:cNvPr id="12" name="TextBox 11">
            <a:extLst>
              <a:ext uri="{FF2B5EF4-FFF2-40B4-BE49-F238E27FC236}">
                <a16:creationId xmlns:a16="http://schemas.microsoft.com/office/drawing/2014/main" id="{67060782-DEBB-B7B3-0B8E-40A8B53A4FEA}"/>
              </a:ext>
            </a:extLst>
          </p:cNvPr>
          <p:cNvSpPr txBox="1"/>
          <p:nvPr/>
        </p:nvSpPr>
        <p:spPr>
          <a:xfrm>
            <a:off x="1220371" y="5110538"/>
            <a:ext cx="8444133" cy="461665"/>
          </a:xfrm>
          <a:prstGeom prst="rect">
            <a:avLst/>
          </a:prstGeom>
          <a:noFill/>
        </p:spPr>
        <p:txBody>
          <a:bodyPr wrap="square">
            <a:spAutoFit/>
          </a:bodyPr>
          <a:lstStyle/>
          <a:p>
            <a:r>
              <a:rPr lang="en-US" sz="2400" dirty="0"/>
              <a:t>Choosing k eigenvectors with the largest eigenvalues</a:t>
            </a:r>
            <a:endParaRPr lang="en-IN" sz="2400" dirty="0"/>
          </a:p>
        </p:txBody>
      </p:sp>
    </p:spTree>
    <p:extLst>
      <p:ext uri="{BB962C8B-B14F-4D97-AF65-F5344CB8AC3E}">
        <p14:creationId xmlns:p14="http://schemas.microsoft.com/office/powerpoint/2010/main" val="2370053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BC4E-AF20-EA04-A8F0-649CC5E7B64B}"/>
              </a:ext>
            </a:extLst>
          </p:cNvPr>
          <p:cNvSpPr>
            <a:spLocks noGrp="1"/>
          </p:cNvSpPr>
          <p:nvPr>
            <p:ph type="title"/>
          </p:nvPr>
        </p:nvSpPr>
        <p:spPr/>
        <p:txBody>
          <a:bodyPr>
            <a:normAutofit fontScale="90000"/>
          </a:bodyPr>
          <a:lstStyle/>
          <a:p>
            <a:r>
              <a:rPr lang="en-US" sz="4900" b="1" dirty="0"/>
              <a:t>Step 5: Transforming the samples onto the new subspace</a:t>
            </a:r>
            <a:br>
              <a:rPr lang="en-US" b="1" dirty="0"/>
            </a:br>
            <a:endParaRPr lang="en-IN" dirty="0"/>
          </a:p>
        </p:txBody>
      </p:sp>
      <p:sp>
        <p:nvSpPr>
          <p:cNvPr id="3" name="Content Placeholder 2">
            <a:extLst>
              <a:ext uri="{FF2B5EF4-FFF2-40B4-BE49-F238E27FC236}">
                <a16:creationId xmlns:a16="http://schemas.microsoft.com/office/drawing/2014/main" id="{7E428329-6729-85D6-7B7C-3996E5F67625}"/>
              </a:ext>
            </a:extLst>
          </p:cNvPr>
          <p:cNvSpPr>
            <a:spLocks noGrp="1"/>
          </p:cNvSpPr>
          <p:nvPr>
            <p:ph idx="1"/>
          </p:nvPr>
        </p:nvSpPr>
        <p:spPr/>
        <p:txBody>
          <a:bodyPr/>
          <a:lstStyle/>
          <a:p>
            <a:r>
              <a:rPr lang="en-US" dirty="0"/>
              <a:t>In the last step, we use the 4×2-dimensional matrix W that we just computed to transform our samples onto the new subspace via the equation</a:t>
            </a:r>
            <a:endParaRPr lang="en-IN" dirty="0"/>
          </a:p>
        </p:txBody>
      </p:sp>
      <p:pic>
        <p:nvPicPr>
          <p:cNvPr id="5" name="Picture 4">
            <a:extLst>
              <a:ext uri="{FF2B5EF4-FFF2-40B4-BE49-F238E27FC236}">
                <a16:creationId xmlns:a16="http://schemas.microsoft.com/office/drawing/2014/main" id="{9764EEFD-C009-3033-CFD5-3A42DE4184E8}"/>
              </a:ext>
            </a:extLst>
          </p:cNvPr>
          <p:cNvPicPr>
            <a:picLocks noChangeAspect="1"/>
          </p:cNvPicPr>
          <p:nvPr/>
        </p:nvPicPr>
        <p:blipFill rotWithShape="1">
          <a:blip r:embed="rId2"/>
          <a:srcRect l="21786" t="48041" r="26548" b="38195"/>
          <a:stretch/>
        </p:blipFill>
        <p:spPr>
          <a:xfrm>
            <a:off x="1081260" y="3232037"/>
            <a:ext cx="10272540" cy="1538513"/>
          </a:xfrm>
          <a:prstGeom prst="rect">
            <a:avLst/>
          </a:prstGeom>
        </p:spPr>
      </p:pic>
    </p:spTree>
    <p:extLst>
      <p:ext uri="{BB962C8B-B14F-4D97-AF65-F5344CB8AC3E}">
        <p14:creationId xmlns:p14="http://schemas.microsoft.com/office/powerpoint/2010/main" val="160260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B8D1-B8E0-2FE7-31A5-3D02E55C5CCB}"/>
              </a:ext>
            </a:extLst>
          </p:cNvPr>
          <p:cNvSpPr>
            <a:spLocks noGrp="1"/>
          </p:cNvSpPr>
          <p:nvPr>
            <p:ph type="title"/>
          </p:nvPr>
        </p:nvSpPr>
        <p:spPr/>
        <p:txBody>
          <a:bodyPr/>
          <a:lstStyle/>
          <a:p>
            <a:r>
              <a:rPr lang="en-US" dirty="0"/>
              <a:t>Steps in Detail</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C8CA08-3951-1A76-F9EB-659D5A6870F7}"/>
                  </a:ext>
                </a:extLst>
              </p:cNvPr>
              <p:cNvSpPr>
                <a:spLocks noGrp="1"/>
              </p:cNvSpPr>
              <p:nvPr>
                <p:ph idx="1"/>
              </p:nvPr>
            </p:nvSpPr>
            <p:spPr/>
            <p:txBody>
              <a:bodyPr/>
              <a:lstStyle/>
              <a:p>
                <a:r>
                  <a:rPr lang="en-US" dirty="0"/>
                  <a:t>LDA works by finding directions in the feature space that best separate the classes. It does this by maximizing the difference between the class means while minimizing the spread within each class.</a:t>
                </a:r>
              </a:p>
              <a:p>
                <a:r>
                  <a:rPr lang="en-IN" dirty="0"/>
                  <a:t>Let’s assume we have two classes with d</a:t>
                </a:r>
                <a:r>
                  <a:rPr lang="en-IN" dirty="0">
                    <a:effectLst/>
                  </a:rPr>
                  <a:t>-dimensional samples such as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oMath>
                </a14:m>
                <a:r>
                  <a:rPr lang="en-IN" dirty="0">
                    <a:effectLst/>
                  </a:rPr>
                  <a:t>where:</a:t>
                </a:r>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1</m:t>
                        </m:r>
                      </m:sub>
                    </m:sSub>
                  </m:oMath>
                </a14:m>
                <a:r>
                  <a:rPr lang="en-IN" dirty="0"/>
                  <a:t>samples belong to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1</m:t>
                        </m:r>
                      </m:sub>
                    </m:sSub>
                  </m:oMath>
                </a14:m>
                <a:endParaRPr lang="ar-AE" dirty="0"/>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a:latin typeface="Cambria Math" panose="02040503050406030204" pitchFamily="18" charset="0"/>
                          </a:rPr>
                          <m:t>2</m:t>
                        </m:r>
                      </m:sub>
                    </m:sSub>
                  </m:oMath>
                </a14:m>
                <a:r>
                  <a:rPr lang="ar-AE" dirty="0"/>
                  <a:t>​ </a:t>
                </a:r>
                <a:r>
                  <a:rPr lang="en-IN" dirty="0"/>
                  <a:t>samples belong to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2</m:t>
                        </m:r>
                      </m:sub>
                    </m:sSub>
                  </m:oMath>
                </a14:m>
                <a:r>
                  <a:rPr lang="ar-AE" dirty="0"/>
                  <a:t>​.</a:t>
                </a:r>
              </a:p>
              <a:p>
                <a:endParaRPr lang="en-IN" dirty="0"/>
              </a:p>
            </p:txBody>
          </p:sp>
        </mc:Choice>
        <mc:Fallback xmlns="">
          <p:sp>
            <p:nvSpPr>
              <p:cNvPr id="3" name="Content Placeholder 2">
                <a:extLst>
                  <a:ext uri="{FF2B5EF4-FFF2-40B4-BE49-F238E27FC236}">
                    <a16:creationId xmlns:a16="http://schemas.microsoft.com/office/drawing/2014/main" id="{69C8CA08-3951-1A76-F9EB-659D5A6870F7}"/>
                  </a:ext>
                </a:extLst>
              </p:cNvPr>
              <p:cNvSpPr>
                <a:spLocks noGrp="1" noRot="1" noChangeAspect="1" noMove="1" noResize="1" noEditPoints="1" noAdjustHandles="1" noChangeArrowheads="1" noChangeShapeType="1" noTextEdit="1"/>
              </p:cNvSpPr>
              <p:nvPr>
                <p:ph idx="1"/>
              </p:nvPr>
            </p:nvSpPr>
            <p:spPr>
              <a:blipFill>
                <a:blip r:embed="rId2"/>
                <a:stretch>
                  <a:fillRect l="-1043" t="-2241" r="-1797"/>
                </a:stretch>
              </a:blipFill>
            </p:spPr>
            <p:txBody>
              <a:bodyPr/>
              <a:lstStyle/>
              <a:p>
                <a:r>
                  <a:rPr lang="en-IN">
                    <a:noFill/>
                  </a:rPr>
                  <a:t> </a:t>
                </a:r>
              </a:p>
            </p:txBody>
          </p:sp>
        </mc:Fallback>
      </mc:AlternateContent>
    </p:spTree>
    <p:extLst>
      <p:ext uri="{BB962C8B-B14F-4D97-AF65-F5344CB8AC3E}">
        <p14:creationId xmlns:p14="http://schemas.microsoft.com/office/powerpoint/2010/main" val="169128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8CA81-433C-84AC-2879-03EF9FC068F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8EDF8E-2F13-52F4-F588-2B9B8F02A8F0}"/>
                  </a:ext>
                </a:extLst>
              </p:cNvPr>
              <p:cNvSpPr>
                <a:spLocks noGrp="1"/>
              </p:cNvSpPr>
              <p:nvPr>
                <p:ph idx="1"/>
              </p:nvPr>
            </p:nvSpPr>
            <p:spPr>
              <a:xfrm>
                <a:off x="838200" y="233082"/>
                <a:ext cx="10515600" cy="5943881"/>
              </a:xfrm>
            </p:spPr>
            <p:txBody>
              <a:bodyPr>
                <a:normAutofit fontScale="92500" lnSpcReduction="10000"/>
              </a:bodyPr>
              <a:lstStyle/>
              <a:p>
                <a:r>
                  <a:rPr lang="en-IN" dirty="0"/>
                  <a:t>If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represents a data point its projection onto the line represented by the unit vector </a:t>
                </a:r>
                <a14:m>
                  <m:oMath xmlns:m="http://schemas.openxmlformats.org/officeDocument/2006/math">
                    <m:r>
                      <a:rPr lang="en-IN" i="1">
                        <a:latin typeface="Cambria Math" panose="02040503050406030204" pitchFamily="18" charset="0"/>
                      </a:rPr>
                      <m:t>𝑣</m:t>
                    </m:r>
                  </m:oMath>
                </a14:m>
                <a:r>
                  <a:rPr lang="en-IN" dirty="0"/>
                  <a:t>is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𝑣</m:t>
                        </m:r>
                      </m:e>
                      <m:sup>
                        <m:r>
                          <a:rPr lang="ar-AE" i="1">
                            <a:latin typeface="Cambria Math" panose="02040503050406030204" pitchFamily="18" charset="0"/>
                          </a:rPr>
                          <m:t>𝑇</m:t>
                        </m:r>
                      </m:sup>
                    </m:sSup>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Let the means of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1</m:t>
                        </m:r>
                      </m:sub>
                    </m:sSub>
                  </m:oMath>
                </a14:m>
                <a:r>
                  <a:rPr lang="en-IN" dirty="0"/>
                  <a:t>and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2</m:t>
                        </m:r>
                      </m:sub>
                    </m:sSub>
                  </m:oMath>
                </a14:m>
                <a:r>
                  <a:rPr lang="ar-AE" dirty="0"/>
                  <a:t>​ </a:t>
                </a:r>
                <a:r>
                  <a:rPr lang="en-IN" dirty="0"/>
                  <a:t>before projection be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a:latin typeface="Cambria Math" panose="02040503050406030204" pitchFamily="18" charset="0"/>
                          </a:rPr>
                          <m:t>1</m:t>
                        </m:r>
                      </m:sub>
                    </m:sSub>
                  </m:oMath>
                </a14:m>
                <a:r>
                  <a:rPr lang="ar-AE" dirty="0"/>
                  <a:t>​ </a:t>
                </a:r>
                <a:r>
                  <a:rPr lang="en-IN"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a:latin typeface="Cambria Math" panose="02040503050406030204" pitchFamily="18" charset="0"/>
                          </a:rPr>
                          <m:t>2</m:t>
                        </m:r>
                      </m:sub>
                    </m:sSub>
                  </m:oMath>
                </a14:m>
                <a:r>
                  <a:rPr lang="en-IN" dirty="0"/>
                  <a:t>respectively. After projection the new means are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𝜇</m:t>
                            </m:r>
                          </m:e>
                        </m:acc>
                      </m:e>
                      <m:sub>
                        <m:r>
                          <a:rPr lang="ar-AE">
                            <a:latin typeface="Cambria Math" panose="02040503050406030204" pitchFamily="18" charset="0"/>
                          </a:rPr>
                          <m:t>1</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𝑣</m:t>
                        </m:r>
                      </m:e>
                      <m:sup>
                        <m:r>
                          <a:rPr lang="ar-AE" i="1">
                            <a:latin typeface="Cambria Math" panose="02040503050406030204" pitchFamily="18" charset="0"/>
                          </a:rPr>
                          <m:t>𝑇</m:t>
                        </m:r>
                      </m:sup>
                    </m:sSup>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a:latin typeface="Cambria Math" panose="02040503050406030204" pitchFamily="18" charset="0"/>
                          </a:rPr>
                          <m:t>1</m:t>
                        </m:r>
                      </m:sub>
                    </m:sSub>
                  </m:oMath>
                </a14:m>
                <a:r>
                  <a:rPr lang="en-IN" dirty="0"/>
                  <a:t>and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𝜇</m:t>
                            </m:r>
                          </m:e>
                        </m:acc>
                      </m:e>
                      <m:sub>
                        <m:r>
                          <a:rPr lang="ar-AE">
                            <a:latin typeface="Cambria Math" panose="02040503050406030204" pitchFamily="18" charset="0"/>
                          </a:rPr>
                          <m:t>2</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𝑣</m:t>
                        </m:r>
                      </m:e>
                      <m:sup>
                        <m:r>
                          <a:rPr lang="ar-AE" i="1">
                            <a:latin typeface="Cambria Math" panose="02040503050406030204" pitchFamily="18" charset="0"/>
                          </a:rPr>
                          <m:t>𝑇</m:t>
                        </m:r>
                      </m:sup>
                    </m:sSup>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a:latin typeface="Cambria Math" panose="02040503050406030204" pitchFamily="18" charset="0"/>
                          </a:rPr>
                          <m:t>2</m:t>
                        </m:r>
                      </m:sub>
                    </m:sSub>
                  </m:oMath>
                </a14:m>
                <a:r>
                  <a:rPr lang="ar-AE" dirty="0"/>
                  <a:t>​</a:t>
                </a:r>
                <a:r>
                  <a:rPr lang="en-US" dirty="0"/>
                  <a:t>.</a:t>
                </a:r>
              </a:p>
              <a:p>
                <a:r>
                  <a:rPr lang="en-IN" dirty="0"/>
                  <a:t>Our aim to normalize the difference </a:t>
                </a:r>
                <a14:m>
                  <m:oMath xmlns:m="http://schemas.openxmlformats.org/officeDocument/2006/math">
                    <m:r>
                      <a:rPr lang="en-IN">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𝜇</m:t>
                            </m:r>
                          </m:e>
                        </m:acc>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𝜇</m:t>
                            </m:r>
                          </m:e>
                        </m:acc>
                      </m:e>
                      <m:sub>
                        <m:r>
                          <a:rPr lang="ar-AE">
                            <a:latin typeface="Cambria Math" panose="02040503050406030204" pitchFamily="18" charset="0"/>
                          </a:rPr>
                          <m:t>2</m:t>
                        </m:r>
                      </m:sub>
                    </m:sSub>
                    <m:r>
                      <a:rPr lang="ar-AE">
                        <a:latin typeface="Cambria Math" panose="02040503050406030204" pitchFamily="18" charset="0"/>
                      </a:rPr>
                      <m:t>∣</m:t>
                    </m:r>
                  </m:oMath>
                </a14:m>
                <a:r>
                  <a:rPr lang="en-IN" dirty="0">
                    <a:effectLst/>
                  </a:rPr>
                  <a:t>to maximize the class separation. The scatter for samples of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1</m:t>
                        </m:r>
                      </m:sub>
                    </m:sSub>
                  </m:oMath>
                </a14:m>
                <a:r>
                  <a:rPr lang="ar-AE" dirty="0">
                    <a:effectLst/>
                  </a:rPr>
                  <a:t>​ </a:t>
                </a:r>
                <a:r>
                  <a:rPr lang="en-IN" dirty="0">
                    <a:effectLst/>
                  </a:rPr>
                  <a:t>is calculated as:</a:t>
                </a:r>
              </a:p>
              <a:p>
                <a:endParaRPr lang="en-IN" dirty="0"/>
              </a:p>
              <a:p>
                <a:r>
                  <a:rPr lang="en-IN" dirty="0"/>
                  <a:t>Similarly for class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2</m:t>
                        </m:r>
                      </m:sub>
                    </m:sSub>
                  </m:oMath>
                </a14:m>
                <a:r>
                  <a:rPr lang="ar-AE" dirty="0">
                    <a:effectLst/>
                  </a:rPr>
                  <a:t>​:</a:t>
                </a:r>
                <a:endParaRPr lang="en-US" dirty="0">
                  <a:effectLst/>
                </a:endParaRPr>
              </a:p>
              <a:p>
                <a:endParaRPr lang="en-US" dirty="0"/>
              </a:p>
              <a:p>
                <a:r>
                  <a:rPr lang="en-US" dirty="0"/>
                  <a:t>The goal is to maximize the ratio of the between-class scatter to the within-class scatter, which leads us to the following criteria:</a:t>
                </a:r>
              </a:p>
              <a:p>
                <a:endParaRPr lang="en-US" dirty="0">
                  <a:effectLst/>
                </a:endParaRPr>
              </a:p>
              <a:p>
                <a:endParaRPr lang="en-US" dirty="0"/>
              </a:p>
              <a:p>
                <a:r>
                  <a:rPr lang="en-IN" dirty="0"/>
                  <a:t>For the best separation we calculate the eigenvector corresponding to the highest eigenvalue of the scatter matrices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𝑠</m:t>
                        </m:r>
                      </m:e>
                      <m:sub>
                        <m:r>
                          <a:rPr lang="ar-AE" i="1">
                            <a:latin typeface="Cambria Math" panose="02040503050406030204" pitchFamily="18" charset="0"/>
                          </a:rPr>
                          <m:t>𝑤</m:t>
                        </m:r>
                      </m:sub>
                      <m:sup>
                        <m:r>
                          <a:rPr lang="ar-AE">
                            <a:latin typeface="Cambria Math" panose="02040503050406030204" pitchFamily="18" charset="0"/>
                          </a:rPr>
                          <m:t>−</m:t>
                        </m:r>
                        <m:r>
                          <a:rPr lang="ar-AE">
                            <a:latin typeface="Cambria Math" panose="02040503050406030204" pitchFamily="18" charset="0"/>
                          </a:rPr>
                          <m:t>1</m:t>
                        </m:r>
                      </m:sup>
                    </m:sSubSup>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𝑏</m:t>
                        </m:r>
                      </m:sub>
                    </m:sSub>
                  </m:oMath>
                </a14:m>
                <a:r>
                  <a:rPr lang="ar-AE" dirty="0">
                    <a:effectLst/>
                  </a:rPr>
                  <a:t>.</a:t>
                </a:r>
              </a:p>
              <a:p>
                <a:endParaRPr lang="ar-AE" dirty="0">
                  <a:effectLst/>
                </a:endParaRPr>
              </a:p>
              <a:p>
                <a:endParaRPr lang="en-IN" dirty="0">
                  <a:effectLst/>
                </a:endParaRPr>
              </a:p>
              <a:p>
                <a:endParaRPr lang="en-IN" dirty="0"/>
              </a:p>
            </p:txBody>
          </p:sp>
        </mc:Choice>
        <mc:Fallback xmlns="">
          <p:sp>
            <p:nvSpPr>
              <p:cNvPr id="3" name="Content Placeholder 2">
                <a:extLst>
                  <a:ext uri="{FF2B5EF4-FFF2-40B4-BE49-F238E27FC236}">
                    <a16:creationId xmlns:a16="http://schemas.microsoft.com/office/drawing/2014/main" id="{C88EDF8E-2F13-52F4-F588-2B9B8F02A8F0}"/>
                  </a:ext>
                </a:extLst>
              </p:cNvPr>
              <p:cNvSpPr>
                <a:spLocks noGrp="1" noRot="1" noChangeAspect="1" noMove="1" noResize="1" noEditPoints="1" noAdjustHandles="1" noChangeArrowheads="1" noChangeShapeType="1" noTextEdit="1"/>
              </p:cNvSpPr>
              <p:nvPr>
                <p:ph idx="1"/>
              </p:nvPr>
            </p:nvSpPr>
            <p:spPr>
              <a:xfrm>
                <a:off x="838200" y="233082"/>
                <a:ext cx="10515600" cy="5943881"/>
              </a:xfrm>
              <a:blipFill>
                <a:blip r:embed="rId2"/>
                <a:stretch>
                  <a:fillRect l="-928" t="-2359" r="-754" b="-164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5268832-DE21-010C-5621-943C5043A7B5}"/>
              </a:ext>
            </a:extLst>
          </p:cNvPr>
          <p:cNvPicPr>
            <a:picLocks noChangeAspect="1"/>
          </p:cNvPicPr>
          <p:nvPr/>
        </p:nvPicPr>
        <p:blipFill>
          <a:blip r:embed="rId3"/>
          <a:stretch>
            <a:fillRect/>
          </a:stretch>
        </p:blipFill>
        <p:spPr>
          <a:xfrm>
            <a:off x="4525903" y="2388218"/>
            <a:ext cx="2172003" cy="485843"/>
          </a:xfrm>
          <a:prstGeom prst="rect">
            <a:avLst/>
          </a:prstGeom>
        </p:spPr>
      </p:pic>
      <p:pic>
        <p:nvPicPr>
          <p:cNvPr id="7" name="Picture 6">
            <a:extLst>
              <a:ext uri="{FF2B5EF4-FFF2-40B4-BE49-F238E27FC236}">
                <a16:creationId xmlns:a16="http://schemas.microsoft.com/office/drawing/2014/main" id="{382D8AB0-3F6E-6C68-2F33-15713EF996DA}"/>
              </a:ext>
            </a:extLst>
          </p:cNvPr>
          <p:cNvPicPr>
            <a:picLocks noChangeAspect="1"/>
          </p:cNvPicPr>
          <p:nvPr/>
        </p:nvPicPr>
        <p:blipFill>
          <a:blip r:embed="rId4"/>
          <a:stretch>
            <a:fillRect/>
          </a:stretch>
        </p:blipFill>
        <p:spPr>
          <a:xfrm>
            <a:off x="4602114" y="3205131"/>
            <a:ext cx="2095792" cy="447737"/>
          </a:xfrm>
          <a:prstGeom prst="rect">
            <a:avLst/>
          </a:prstGeom>
        </p:spPr>
      </p:pic>
      <p:pic>
        <p:nvPicPr>
          <p:cNvPr id="9" name="Picture 8">
            <a:extLst>
              <a:ext uri="{FF2B5EF4-FFF2-40B4-BE49-F238E27FC236}">
                <a16:creationId xmlns:a16="http://schemas.microsoft.com/office/drawing/2014/main" id="{E29E2FF8-F5B7-72D9-27D9-E8F99F78B122}"/>
              </a:ext>
            </a:extLst>
          </p:cNvPr>
          <p:cNvPicPr>
            <a:picLocks noChangeAspect="1"/>
          </p:cNvPicPr>
          <p:nvPr/>
        </p:nvPicPr>
        <p:blipFill>
          <a:blip r:embed="rId5"/>
          <a:stretch>
            <a:fillRect/>
          </a:stretch>
        </p:blipFill>
        <p:spPr>
          <a:xfrm>
            <a:off x="4902192" y="4644202"/>
            <a:ext cx="1419423" cy="638264"/>
          </a:xfrm>
          <a:prstGeom prst="rect">
            <a:avLst/>
          </a:prstGeom>
        </p:spPr>
      </p:pic>
    </p:spTree>
    <p:extLst>
      <p:ext uri="{BB962C8B-B14F-4D97-AF65-F5344CB8AC3E}">
        <p14:creationId xmlns:p14="http://schemas.microsoft.com/office/powerpoint/2010/main" val="4283016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F7B79-4D9E-5DEE-6141-2D955249E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318B8-F38E-8AFC-C2C8-20BB67F3B2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293E6F-94C3-DF38-CBEA-50722879BE3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0FC9E20-1BF9-7280-9D67-CB53B322599B}"/>
              </a:ext>
            </a:extLst>
          </p:cNvPr>
          <p:cNvPicPr>
            <a:picLocks noChangeAspect="1"/>
          </p:cNvPicPr>
          <p:nvPr/>
        </p:nvPicPr>
        <p:blipFill>
          <a:blip r:embed="rId2"/>
          <a:stretch>
            <a:fillRect/>
          </a:stretch>
        </p:blipFill>
        <p:spPr>
          <a:xfrm>
            <a:off x="1642441" y="1237944"/>
            <a:ext cx="8907118" cy="4382112"/>
          </a:xfrm>
          <a:prstGeom prst="rect">
            <a:avLst/>
          </a:prstGeom>
        </p:spPr>
      </p:pic>
    </p:spTree>
    <p:extLst>
      <p:ext uri="{BB962C8B-B14F-4D97-AF65-F5344CB8AC3E}">
        <p14:creationId xmlns:p14="http://schemas.microsoft.com/office/powerpoint/2010/main" val="360004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C6071-F6A7-6583-803D-ECACCC5DF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70809-A435-8DB1-E175-6691C2C4DF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F713BD-DC1A-6A9D-D2FE-DD5F0CCB9BC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BA5F6CE-53FA-0129-F554-31794E982BED}"/>
              </a:ext>
            </a:extLst>
          </p:cNvPr>
          <p:cNvPicPr>
            <a:picLocks noChangeAspect="1"/>
          </p:cNvPicPr>
          <p:nvPr/>
        </p:nvPicPr>
        <p:blipFill>
          <a:blip r:embed="rId2"/>
          <a:stretch>
            <a:fillRect/>
          </a:stretch>
        </p:blipFill>
        <p:spPr>
          <a:xfrm>
            <a:off x="1023229" y="80495"/>
            <a:ext cx="10145541" cy="6697010"/>
          </a:xfrm>
          <a:prstGeom prst="rect">
            <a:avLst/>
          </a:prstGeom>
        </p:spPr>
      </p:pic>
    </p:spTree>
    <p:extLst>
      <p:ext uri="{BB962C8B-B14F-4D97-AF65-F5344CB8AC3E}">
        <p14:creationId xmlns:p14="http://schemas.microsoft.com/office/powerpoint/2010/main" val="3604746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B54E-DE1A-22DC-3C28-1996A8A019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BBBB32-BAF5-1FF6-8DE7-0EBB8E0167A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00BED4E-5EEF-E24B-EB5B-C03542FE4587}"/>
              </a:ext>
            </a:extLst>
          </p:cNvPr>
          <p:cNvPicPr>
            <a:picLocks noChangeAspect="1"/>
          </p:cNvPicPr>
          <p:nvPr/>
        </p:nvPicPr>
        <p:blipFill>
          <a:blip r:embed="rId2"/>
          <a:stretch>
            <a:fillRect/>
          </a:stretch>
        </p:blipFill>
        <p:spPr>
          <a:xfrm>
            <a:off x="1613862" y="423443"/>
            <a:ext cx="8964276" cy="6011114"/>
          </a:xfrm>
          <a:prstGeom prst="rect">
            <a:avLst/>
          </a:prstGeom>
        </p:spPr>
      </p:pic>
    </p:spTree>
    <p:extLst>
      <p:ext uri="{BB962C8B-B14F-4D97-AF65-F5344CB8AC3E}">
        <p14:creationId xmlns:p14="http://schemas.microsoft.com/office/powerpoint/2010/main" val="1140443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FEE2-F118-CAEC-B43D-4D433E95A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EBCD3-8223-F1BF-6BF3-C94B15ED7F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3E7105-CDB2-BDEF-11A0-53C71DFBF43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98E7CBA-685B-0172-3E36-D25E327873B1}"/>
              </a:ext>
            </a:extLst>
          </p:cNvPr>
          <p:cNvPicPr>
            <a:picLocks noChangeAspect="1"/>
          </p:cNvPicPr>
          <p:nvPr/>
        </p:nvPicPr>
        <p:blipFill>
          <a:blip r:embed="rId2"/>
          <a:stretch>
            <a:fillRect/>
          </a:stretch>
        </p:blipFill>
        <p:spPr>
          <a:xfrm>
            <a:off x="1294730" y="409153"/>
            <a:ext cx="9602540" cy="6039693"/>
          </a:xfrm>
          <a:prstGeom prst="rect">
            <a:avLst/>
          </a:prstGeom>
        </p:spPr>
      </p:pic>
    </p:spTree>
    <p:extLst>
      <p:ext uri="{BB962C8B-B14F-4D97-AF65-F5344CB8AC3E}">
        <p14:creationId xmlns:p14="http://schemas.microsoft.com/office/powerpoint/2010/main" val="1355553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CD47-F5A9-7740-62F4-04F11BB9D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1DBCF-DBB5-2355-ECE0-9B019DE165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B1A987-C066-A21F-CD6D-DC237F5519B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4086255-2926-654E-1174-97431C1C71ED}"/>
              </a:ext>
            </a:extLst>
          </p:cNvPr>
          <p:cNvPicPr>
            <a:picLocks noChangeAspect="1"/>
          </p:cNvPicPr>
          <p:nvPr/>
        </p:nvPicPr>
        <p:blipFill>
          <a:blip r:embed="rId2"/>
          <a:stretch>
            <a:fillRect/>
          </a:stretch>
        </p:blipFill>
        <p:spPr>
          <a:xfrm>
            <a:off x="1170887" y="304364"/>
            <a:ext cx="9850225" cy="6249272"/>
          </a:xfrm>
          <a:prstGeom prst="rect">
            <a:avLst/>
          </a:prstGeom>
        </p:spPr>
      </p:pic>
    </p:spTree>
    <p:extLst>
      <p:ext uri="{BB962C8B-B14F-4D97-AF65-F5344CB8AC3E}">
        <p14:creationId xmlns:p14="http://schemas.microsoft.com/office/powerpoint/2010/main" val="1987957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EE4D-41C8-A9BC-961C-C50969515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EC32B-18E5-A784-C22D-27246EE3DB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189D93-CC5F-C0FA-B339-3DA7AB7EBCB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4E0613C-81EC-777E-DD4D-51164BC99689}"/>
              </a:ext>
            </a:extLst>
          </p:cNvPr>
          <p:cNvPicPr>
            <a:picLocks noChangeAspect="1"/>
          </p:cNvPicPr>
          <p:nvPr/>
        </p:nvPicPr>
        <p:blipFill>
          <a:blip r:embed="rId2"/>
          <a:stretch>
            <a:fillRect/>
          </a:stretch>
        </p:blipFill>
        <p:spPr>
          <a:xfrm>
            <a:off x="1289967" y="456785"/>
            <a:ext cx="9612066" cy="5944430"/>
          </a:xfrm>
          <a:prstGeom prst="rect">
            <a:avLst/>
          </a:prstGeom>
        </p:spPr>
      </p:pic>
    </p:spTree>
    <p:extLst>
      <p:ext uri="{BB962C8B-B14F-4D97-AF65-F5344CB8AC3E}">
        <p14:creationId xmlns:p14="http://schemas.microsoft.com/office/powerpoint/2010/main" val="2726999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F324-11FA-4DD2-3025-16108A39A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FAF4A-8063-2036-B07B-1A6552C4E6B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541AF6-A7FC-65B3-78EB-83241134282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C4C904C-5A53-C451-8C3E-A7A96A0F1E1B}"/>
              </a:ext>
            </a:extLst>
          </p:cNvPr>
          <p:cNvPicPr>
            <a:picLocks noChangeAspect="1"/>
          </p:cNvPicPr>
          <p:nvPr/>
        </p:nvPicPr>
        <p:blipFill>
          <a:blip r:embed="rId2"/>
          <a:stretch>
            <a:fillRect/>
          </a:stretch>
        </p:blipFill>
        <p:spPr>
          <a:xfrm>
            <a:off x="994650" y="261495"/>
            <a:ext cx="10202699" cy="6335009"/>
          </a:xfrm>
          <a:prstGeom prst="rect">
            <a:avLst/>
          </a:prstGeom>
        </p:spPr>
      </p:pic>
    </p:spTree>
    <p:extLst>
      <p:ext uri="{BB962C8B-B14F-4D97-AF65-F5344CB8AC3E}">
        <p14:creationId xmlns:p14="http://schemas.microsoft.com/office/powerpoint/2010/main" val="3775220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84EBD-4D87-19B2-AD4E-0FAA0BEDF9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0119A8-3722-97EE-2346-A761C1D88D5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1C944E7-0DE0-333E-F62C-02404377D0D2}"/>
              </a:ext>
            </a:extLst>
          </p:cNvPr>
          <p:cNvPicPr>
            <a:picLocks noChangeAspect="1"/>
          </p:cNvPicPr>
          <p:nvPr/>
        </p:nvPicPr>
        <p:blipFill>
          <a:blip r:embed="rId2"/>
          <a:stretch>
            <a:fillRect/>
          </a:stretch>
        </p:blipFill>
        <p:spPr>
          <a:xfrm>
            <a:off x="1023229" y="42390"/>
            <a:ext cx="10145541" cy="6773220"/>
          </a:xfrm>
          <a:prstGeom prst="rect">
            <a:avLst/>
          </a:prstGeom>
        </p:spPr>
      </p:pic>
    </p:spTree>
    <p:extLst>
      <p:ext uri="{BB962C8B-B14F-4D97-AF65-F5344CB8AC3E}">
        <p14:creationId xmlns:p14="http://schemas.microsoft.com/office/powerpoint/2010/main" val="3540275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48DFB-D797-911A-A013-48DC7A2B0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C46BD-8F41-0870-0930-A851DCF2F3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64DF29-663F-F12E-DB37-B55DEA94588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95AA3F8-718D-5AFA-4F07-67029AAFFB59}"/>
              </a:ext>
            </a:extLst>
          </p:cNvPr>
          <p:cNvPicPr>
            <a:picLocks noChangeAspect="1"/>
          </p:cNvPicPr>
          <p:nvPr/>
        </p:nvPicPr>
        <p:blipFill>
          <a:blip r:embed="rId2"/>
          <a:stretch>
            <a:fillRect/>
          </a:stretch>
        </p:blipFill>
        <p:spPr>
          <a:xfrm>
            <a:off x="827940" y="128127"/>
            <a:ext cx="10536120" cy="6601746"/>
          </a:xfrm>
          <a:prstGeom prst="rect">
            <a:avLst/>
          </a:prstGeom>
        </p:spPr>
      </p:pic>
    </p:spTree>
    <p:extLst>
      <p:ext uri="{BB962C8B-B14F-4D97-AF65-F5344CB8AC3E}">
        <p14:creationId xmlns:p14="http://schemas.microsoft.com/office/powerpoint/2010/main" val="831077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56447-A5A7-CBB9-4459-BBD0DA991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5E23C-771C-EAAF-CE98-921FE69F02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EFBC30-0379-A93F-E02D-0338122D6C7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D36F0C2-C822-8981-F24B-302ABE4655AE}"/>
              </a:ext>
            </a:extLst>
          </p:cNvPr>
          <p:cNvPicPr>
            <a:picLocks noChangeAspect="1"/>
          </p:cNvPicPr>
          <p:nvPr/>
        </p:nvPicPr>
        <p:blipFill>
          <a:blip r:embed="rId2"/>
          <a:stretch>
            <a:fillRect/>
          </a:stretch>
        </p:blipFill>
        <p:spPr>
          <a:xfrm>
            <a:off x="1232809" y="94784"/>
            <a:ext cx="9726382" cy="6668431"/>
          </a:xfrm>
          <a:prstGeom prst="rect">
            <a:avLst/>
          </a:prstGeom>
        </p:spPr>
      </p:pic>
    </p:spTree>
    <p:extLst>
      <p:ext uri="{BB962C8B-B14F-4D97-AF65-F5344CB8AC3E}">
        <p14:creationId xmlns:p14="http://schemas.microsoft.com/office/powerpoint/2010/main" val="979727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20EEF-7CFF-CE0B-8E6E-2D7371555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08E6C-4087-1A66-2C4E-EE65ECC216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D192E3-FE33-C817-4212-5043ED3ABCA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113B1C3-6E46-76ED-FF8D-7710776BD525}"/>
              </a:ext>
            </a:extLst>
          </p:cNvPr>
          <p:cNvPicPr>
            <a:picLocks noChangeAspect="1"/>
          </p:cNvPicPr>
          <p:nvPr/>
        </p:nvPicPr>
        <p:blipFill>
          <a:blip r:embed="rId2"/>
          <a:stretch>
            <a:fillRect/>
          </a:stretch>
        </p:blipFill>
        <p:spPr>
          <a:xfrm>
            <a:off x="1328072" y="123363"/>
            <a:ext cx="9535856" cy="6611273"/>
          </a:xfrm>
          <a:prstGeom prst="rect">
            <a:avLst/>
          </a:prstGeom>
        </p:spPr>
      </p:pic>
    </p:spTree>
    <p:extLst>
      <p:ext uri="{BB962C8B-B14F-4D97-AF65-F5344CB8AC3E}">
        <p14:creationId xmlns:p14="http://schemas.microsoft.com/office/powerpoint/2010/main" val="704918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DCC0EDE-179A-8C26-1136-748E964D4A73}"/>
              </a:ext>
            </a:extLst>
          </p:cNvPr>
          <p:cNvSpPr>
            <a:spLocks noGrp="1"/>
          </p:cNvSpPr>
          <p:nvPr>
            <p:ph idx="1"/>
          </p:nvPr>
        </p:nvSpPr>
        <p:spPr>
          <a:xfrm>
            <a:off x="838200" y="974361"/>
            <a:ext cx="10515600" cy="5202602"/>
          </a:xfrm>
        </p:spPr>
        <p:txBody>
          <a:bodyPr>
            <a:normAutofit/>
          </a:bodyPr>
          <a:lstStyle/>
          <a:p>
            <a:pPr marL="0" indent="0">
              <a:buNone/>
            </a:pPr>
            <a:r>
              <a:rPr lang="en-US" b="1" dirty="0"/>
              <a:t>Lab Assignment</a:t>
            </a:r>
          </a:p>
          <a:p>
            <a:pPr marL="457200" indent="-457200" algn="just">
              <a:buAutoNum type="arabicPeriod"/>
            </a:pPr>
            <a:r>
              <a:rPr lang="en-US" sz="2400" dirty="0"/>
              <a:t>Apply LDA on the iris dataset (without using inbuilt function). Generate the scatter plot of the data before and after applying LDA.</a:t>
            </a:r>
          </a:p>
          <a:p>
            <a:pPr marL="457200" indent="-457200" algn="just">
              <a:buAutoNum type="arabicPeriod"/>
            </a:pPr>
            <a:r>
              <a:rPr lang="en-US" sz="2400" dirty="0"/>
              <a:t>Apply Random Forrest on the iris dataset using 2 Discriminants from above step.</a:t>
            </a:r>
          </a:p>
          <a:p>
            <a:pPr marL="457200" indent="-457200" algn="just">
              <a:buAutoNum type="arabicPeriod"/>
            </a:pPr>
            <a:r>
              <a:rPr lang="en-US" sz="2400" dirty="0"/>
              <a:t>Compare the result with results of PCA</a:t>
            </a:r>
          </a:p>
          <a:p>
            <a:pPr marL="457200" indent="-457200">
              <a:buAutoNum type="arabicPeriod"/>
            </a:pPr>
            <a:endParaRPr lang="en-US" sz="2400" dirty="0"/>
          </a:p>
        </p:txBody>
      </p:sp>
    </p:spTree>
    <p:extLst>
      <p:ext uri="{BB962C8B-B14F-4D97-AF65-F5344CB8AC3E}">
        <p14:creationId xmlns:p14="http://schemas.microsoft.com/office/powerpoint/2010/main" val="1665280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FDF9B24BAB2F409943692511EA3F07" ma:contentTypeVersion="3" ma:contentTypeDescription="Create a new document." ma:contentTypeScope="" ma:versionID="7cd7b2bc0e27fa2778d1aaddc0d4bbc0">
  <xsd:schema xmlns:xsd="http://www.w3.org/2001/XMLSchema" xmlns:xs="http://www.w3.org/2001/XMLSchema" xmlns:p="http://schemas.microsoft.com/office/2006/metadata/properties" xmlns:ns2="f1c42d58-3a7f-4e38-9e9a-b70e5ba1543c" targetNamespace="http://schemas.microsoft.com/office/2006/metadata/properties" ma:root="true" ma:fieldsID="b38c3554ef2ecffd3f6261546b09c2a0" ns2:_="">
    <xsd:import namespace="f1c42d58-3a7f-4e38-9e9a-b70e5ba1543c"/>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42d58-3a7f-4e38-9e9a-b70e5ba154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C9FBEC-66FE-4F35-AD24-F6EDE14A1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42d58-3a7f-4e38-9e9a-b70e5ba154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F2EA1B-1CA8-4F87-9FF1-4CF2C2BA301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9FC3AA4-01C4-4C73-BC0A-3A37C213CA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233</TotalTime>
  <Words>464</Words>
  <Application>Microsoft Office PowerPoint</Application>
  <PresentationFormat>Widescreen</PresentationFormat>
  <Paragraphs>38</Paragraphs>
  <Slides>22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Arial</vt:lpstr>
      <vt:lpstr>Calibri</vt:lpstr>
      <vt:lpstr>Calibri Light</vt:lpstr>
      <vt:lpstr>Cambria Math</vt:lpstr>
      <vt:lpstr>Office Theme</vt:lpstr>
      <vt:lpstr>1_Office Theme</vt:lpstr>
      <vt:lpstr>Data Analytics Lab</vt:lpstr>
      <vt:lpstr>Linear Discriminant Analysis</vt:lpstr>
      <vt:lpstr>PowerPoint Presentation</vt:lpstr>
      <vt:lpstr>PowerPoint Presentation</vt:lpstr>
      <vt:lpstr>Step 1: Computing the d-dimensional mean vector</vt:lpstr>
      <vt:lpstr>Step 2: Computing the Scatter Matrices </vt:lpstr>
      <vt:lpstr>Step 3: Solving the generalized eigenvalue problem for the matrix </vt:lpstr>
      <vt:lpstr>Step 5: Transforming the samples onto the new subspace </vt:lpstr>
      <vt:lpstr>Steps in Detail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AKRITI NIGAM</dc:creator>
  <cp:lastModifiedBy>AKRITI NIGAM</cp:lastModifiedBy>
  <cp:revision>8</cp:revision>
  <dcterms:created xsi:type="dcterms:W3CDTF">2023-02-02T09:20:31Z</dcterms:created>
  <dcterms:modified xsi:type="dcterms:W3CDTF">2026-02-27T03:26:19Z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0x01010032FDF9B24BAB2F409943692511EA3F07</vt:lpwstr>
  </property>
</Properties>
</file>